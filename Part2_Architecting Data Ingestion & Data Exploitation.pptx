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125"/>
    <p:restoredTop sz="94699"/>
  </p:normalViewPr>
  <p:slideViewPr>
    <p:cSldViewPr snapToGrid="0">
      <p:cViewPr varScale="1">
        <p:scale>
          <a:sx n="115" d="100"/>
          <a:sy n="115" d="100"/>
        </p:scale>
        <p:origin x="2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3A49A-B4CB-6987-2409-F73C8BCBDA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FCD989-FE9B-81C7-AA90-52447161B4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60AD96-FCBC-4F52-D6BB-CDCCF433F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CB7D3-992B-E14D-A5D1-D2BAF9DC5C72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8694B1-02D5-90E9-0736-D2B8F929B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F5488A-5D61-5676-3161-0D33968AD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C6B13-459E-904B-A3E6-0A54DFA0F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227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B4C42-D393-DCF1-73CE-113A87D55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28737-EF56-6353-581C-B1A836D3D3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D61DD-BD95-2A1A-2DF2-059263EFD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CB7D3-992B-E14D-A5D1-D2BAF9DC5C72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0D7421-A847-DB4D-095E-D59496530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E02697-DC10-2302-2982-7EDA9A341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C6B13-459E-904B-A3E6-0A54DFA0F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806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282E8-842D-EEFC-A9A3-30A26182E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7FC8E7-68B6-5007-688B-6F1569E937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6DD56-D7E6-0747-D59C-947F52D3C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CB7D3-992B-E14D-A5D1-D2BAF9DC5C72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143C38-DB01-3178-A7C3-022D9C0CF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80586-D133-F6A0-FDCF-1BD0A2595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C6B13-459E-904B-A3E6-0A54DFA0F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597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FC044-12FE-2735-1E02-02545B68E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E201F-C56B-B8A3-A576-3C9B17E789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2C02D2-FA26-FB36-1556-33D0043F7F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B6259D-106C-9DC4-17BD-946742EE4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CB7D3-992B-E14D-A5D1-D2BAF9DC5C72}" type="datetimeFigureOut">
              <a:rPr lang="en-US" smtClean="0"/>
              <a:t>7/19/26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51C8F9-7AF9-EEC7-A5D2-11E141FA9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147A2B-89D2-4D29-6E02-790E9E3E5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C6B13-459E-904B-A3E6-0A54DFA0F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817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B1296-CB5C-B437-0F61-98B7F984A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84351E-EC25-89B7-6652-A485EFEF28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AF4741-9374-97FB-3DBC-5BACB757C8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29C6B8-F249-8505-D692-F52942B1CB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A1E948-192E-837D-0ABA-81F60EA5A9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60C325-0540-638E-8461-8FC37EBAD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CB7D3-992B-E14D-A5D1-D2BAF9DC5C72}" type="datetimeFigureOut">
              <a:rPr lang="en-US" smtClean="0"/>
              <a:t>7/19/26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18314D-0FAF-2516-5697-3CF5B3AA4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378745-02AA-3522-0626-B19F8FC74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C6B13-459E-904B-A3E6-0A54DFA0F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42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F0B95-9508-0690-A701-6DFB74745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AE4E54-381F-643D-F2FB-AAC9719DC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CB7D3-992B-E14D-A5D1-D2BAF9DC5C72}" type="datetimeFigureOut">
              <a:rPr lang="en-US" smtClean="0"/>
              <a:t>7/19/26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560D89-1031-62E7-B519-2F48E8027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195D44-F5B3-951C-8AE4-F6AF3C440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C6B13-459E-904B-A3E6-0A54DFA0F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952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848A57-92B7-16CF-6053-C85B7605B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CB7D3-992B-E14D-A5D1-D2BAF9DC5C72}" type="datetimeFigureOut">
              <a:rPr lang="en-US" smtClean="0"/>
              <a:t>7/19/26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5ADF75-D709-AEA2-F684-2FE0FE4DD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5C507-9908-4C1F-BEAD-4CB9F6685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C6B13-459E-904B-A3E6-0A54DFA0F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548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2A10C-1D54-A6EE-4878-B36A052E7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CBA89-33F8-3423-220A-7803BFA39F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A244A6-5F18-164B-CDE4-3812300525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97CCEF-BF09-0C14-2A6C-F887DB1FD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CB7D3-992B-E14D-A5D1-D2BAF9DC5C72}" type="datetimeFigureOut">
              <a:rPr lang="en-US" smtClean="0"/>
              <a:t>7/19/26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B7722E-D0A2-95BF-834F-24CDBE471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A10D60-4087-8278-C762-BBD4D3AD7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C6B13-459E-904B-A3E6-0A54DFA0F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410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4D4E2-8F96-5A29-BFD6-E39AF98EB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B65439-8C00-18EB-13B2-AAE232554C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FDD0BA-5AA1-55A3-7227-D6A2F214A5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FD608F-8F50-CA58-D9D4-47EF6A377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CB7D3-992B-E14D-A5D1-D2BAF9DC5C72}" type="datetimeFigureOut">
              <a:rPr lang="en-US" smtClean="0"/>
              <a:t>7/19/26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58AA76-A7C0-EBB4-F6E2-F3AB7CF62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82894B-79B3-EAA0-36D3-6E6714E9C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C6B13-459E-904B-A3E6-0A54DFA0F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595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36BC0-F07C-AEB5-802E-D2C66E91C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4E6143-E42D-0420-8398-9A15AA5A8A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47C4D-241F-1098-C3B1-67A4DEBC6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CB7D3-992B-E14D-A5D1-D2BAF9DC5C72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B11EA-C72E-7A3E-1B10-8062D0839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B5E623-B19C-4AF3-3AE3-1A2CF016B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C6B13-459E-904B-A3E6-0A54DFA0F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566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6A9734-4D02-36D0-8813-A3B8A1A2F3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97809F-4431-E58F-E2F0-81FCEFF52B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08DA77-93F3-E868-3C16-058C357B7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CB7D3-992B-E14D-A5D1-D2BAF9DC5C72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1FA8A-EEAE-A945-CF23-E16FB78C2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4AECF5-66A5-C383-21F2-9FBE309A4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C6B13-459E-904B-A3E6-0A54DFA0F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016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405692-1874-9052-6731-8726C9745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21F79-D279-435B-11AA-60234A91C9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5E8257-D7E3-DEB3-DE3F-F14E1FF60D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CCB7D3-992B-E14D-A5D1-D2BAF9DC5C72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975060-AA3A-42F5-2A63-887A69AF9E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C8595-4806-FA7C-C02B-6DC08DB51B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2C6B13-459E-904B-A3E6-0A54DFA0F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793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Rectangle 204">
            <a:extLst>
              <a:ext uri="{FF2B5EF4-FFF2-40B4-BE49-F238E27FC236}">
                <a16:creationId xmlns:a16="http://schemas.microsoft.com/office/drawing/2014/main" id="{18055BCA-023C-E28D-A43C-336F61CF2899}"/>
              </a:ext>
            </a:extLst>
          </p:cNvPr>
          <p:cNvSpPr/>
          <p:nvPr/>
        </p:nvSpPr>
        <p:spPr>
          <a:xfrm>
            <a:off x="1246690" y="593804"/>
            <a:ext cx="9306564" cy="45992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D28DC98F-6686-607B-9655-EE2B1BB12D63}"/>
              </a:ext>
            </a:extLst>
          </p:cNvPr>
          <p:cNvSpPr/>
          <p:nvPr/>
        </p:nvSpPr>
        <p:spPr>
          <a:xfrm>
            <a:off x="1299133" y="1056254"/>
            <a:ext cx="9254121" cy="42981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FA1DDDC2-854E-DD13-CE01-4391BF44341A}"/>
              </a:ext>
            </a:extLst>
          </p:cNvPr>
          <p:cNvSpPr/>
          <p:nvPr/>
        </p:nvSpPr>
        <p:spPr>
          <a:xfrm>
            <a:off x="1317288" y="1513756"/>
            <a:ext cx="7265443" cy="301674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1BFBA9-2745-FE6E-CF82-97E514311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071" y="636876"/>
            <a:ext cx="376849" cy="34372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27BB770-8699-42A3-C47A-F7EBB53725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07" y="2575342"/>
            <a:ext cx="609600" cy="6096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61CC084-2EA0-A9F4-4F76-43C0357C9DDD}"/>
              </a:ext>
            </a:extLst>
          </p:cNvPr>
          <p:cNvSpPr/>
          <p:nvPr/>
        </p:nvSpPr>
        <p:spPr>
          <a:xfrm>
            <a:off x="107794" y="764951"/>
            <a:ext cx="1088827" cy="15041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External Source  </a:t>
            </a:r>
            <a:r>
              <a:rPr lang="en-US" sz="1000" dirty="0" err="1">
                <a:solidFill>
                  <a:schemeClr val="tx1"/>
                </a:solidFill>
              </a:rPr>
              <a:t>data.gov.sg</a:t>
            </a:r>
            <a:endParaRPr lang="en-US" sz="1000" dirty="0">
              <a:solidFill>
                <a:schemeClr val="tx1"/>
              </a:solidFill>
            </a:endParaRP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Public </a:t>
            </a:r>
            <a:r>
              <a:rPr lang="en-US" sz="1000" dirty="0">
                <a:solidFill>
                  <a:srgbClr val="FF0000"/>
                </a:solidFill>
              </a:rPr>
              <a:t>API</a:t>
            </a:r>
            <a:r>
              <a:rPr lang="en-US" sz="1000" dirty="0">
                <a:solidFill>
                  <a:schemeClr val="tx1"/>
                </a:solidFill>
              </a:rPr>
              <a:t>/HTTPS</a:t>
            </a:r>
          </a:p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1ECCD33-EF55-176D-F9CC-CC9577E417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547" y="1659467"/>
            <a:ext cx="609600" cy="6096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90135B6-49AE-33C9-8738-4578B8476774}"/>
              </a:ext>
            </a:extLst>
          </p:cNvPr>
          <p:cNvSpPr/>
          <p:nvPr/>
        </p:nvSpPr>
        <p:spPr>
          <a:xfrm>
            <a:off x="92548" y="3580237"/>
            <a:ext cx="1088827" cy="15041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tx1"/>
                </a:solidFill>
              </a:rPr>
              <a:t>Large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sz="1000" dirty="0">
                <a:solidFill>
                  <a:schemeClr val="tx1"/>
                </a:solidFill>
              </a:rPr>
              <a:t>File</a:t>
            </a:r>
          </a:p>
          <a:p>
            <a:r>
              <a:rPr lang="en-US" sz="1000" dirty="0">
                <a:solidFill>
                  <a:schemeClr val="tx1"/>
                </a:solidFill>
              </a:rPr>
              <a:t>Transmission</a:t>
            </a:r>
          </a:p>
          <a:p>
            <a:r>
              <a:rPr lang="en-US" sz="1000" dirty="0">
                <a:solidFill>
                  <a:schemeClr val="tx1"/>
                </a:solidFill>
              </a:rPr>
              <a:t>﻿﻿HTTPS (TLS1.2+)</a:t>
            </a:r>
          </a:p>
          <a:p>
            <a:r>
              <a:rPr lang="en-US" sz="1000" dirty="0">
                <a:solidFill>
                  <a:schemeClr val="tx1"/>
                </a:solidFill>
              </a:rPr>
              <a:t>﻿﻿Supports &gt; 100 MB</a:t>
            </a:r>
          </a:p>
          <a:p>
            <a:r>
              <a:rPr lang="en-US" sz="1000" dirty="0">
                <a:solidFill>
                  <a:schemeClr val="tx1"/>
                </a:solidFill>
              </a:rPr>
              <a:t>via streaming download</a:t>
            </a:r>
          </a:p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47B5238-3609-6D1B-1B83-9D7355751CA6}"/>
              </a:ext>
            </a:extLst>
          </p:cNvPr>
          <p:cNvCxnSpPr>
            <a:cxnSpLocks/>
          </p:cNvCxnSpPr>
          <p:nvPr/>
        </p:nvCxnSpPr>
        <p:spPr>
          <a:xfrm flipH="1">
            <a:off x="598673" y="2238024"/>
            <a:ext cx="11674" cy="4346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EFCEE97-95C9-E207-CDDF-8F59C8101B5A}"/>
              </a:ext>
            </a:extLst>
          </p:cNvPr>
          <p:cNvCxnSpPr>
            <a:cxnSpLocks/>
          </p:cNvCxnSpPr>
          <p:nvPr/>
        </p:nvCxnSpPr>
        <p:spPr>
          <a:xfrm>
            <a:off x="622021" y="3278427"/>
            <a:ext cx="14941" cy="2981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59736364-193D-6EF2-CA94-2B9343E29B1F}"/>
              </a:ext>
            </a:extLst>
          </p:cNvPr>
          <p:cNvSpPr/>
          <p:nvPr/>
        </p:nvSpPr>
        <p:spPr>
          <a:xfrm>
            <a:off x="93344" y="5246746"/>
            <a:ext cx="2737916" cy="150411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 dirty="0">
                <a:solidFill>
                  <a:schemeClr val="tx1"/>
                </a:solidFill>
              </a:rPr>
              <a:t>Data Flow Summary</a:t>
            </a:r>
          </a:p>
          <a:p>
            <a:r>
              <a:rPr lang="en-US" sz="800" dirty="0">
                <a:solidFill>
                  <a:schemeClr val="tx1"/>
                </a:solidFill>
              </a:rPr>
              <a:t>﻿﻿﻿1.EventBridge triggers Step Functions on schedule</a:t>
            </a:r>
          </a:p>
          <a:p>
            <a:r>
              <a:rPr lang="en-US" sz="800" dirty="0">
                <a:solidFill>
                  <a:schemeClr val="tx1"/>
                </a:solidFill>
              </a:rPr>
              <a:t>﻿﻿﻿2.Lambda downloads data from </a:t>
            </a:r>
            <a:r>
              <a:rPr lang="en-US" sz="800" dirty="0" err="1">
                <a:solidFill>
                  <a:schemeClr val="tx1"/>
                </a:solidFill>
              </a:rPr>
              <a:t>data.gov.sg</a:t>
            </a:r>
            <a:r>
              <a:rPr lang="en-US" sz="800" dirty="0">
                <a:solidFill>
                  <a:schemeClr val="tx1"/>
                </a:solidFill>
              </a:rPr>
              <a:t> (HTTPS)</a:t>
            </a:r>
            <a:br>
              <a:rPr lang="en-US" sz="800" dirty="0">
                <a:solidFill>
                  <a:schemeClr val="tx1"/>
                </a:solidFill>
              </a:rPr>
            </a:br>
            <a:r>
              <a:rPr lang="en-US" sz="800" dirty="0">
                <a:solidFill>
                  <a:schemeClr val="tx1"/>
                </a:solidFill>
              </a:rPr>
              <a:t>using streaming for large files and uploads to S3 Landing</a:t>
            </a:r>
            <a:br>
              <a:rPr lang="en-US" sz="800" dirty="0">
                <a:solidFill>
                  <a:schemeClr val="tx1"/>
                </a:solidFill>
              </a:rPr>
            </a:br>
            <a:r>
              <a:rPr lang="en-US" sz="800" dirty="0">
                <a:solidFill>
                  <a:schemeClr val="tx1"/>
                </a:solidFill>
              </a:rPr>
              <a:t>3.S3 event triggers Glue Workflow</a:t>
            </a:r>
            <a:br>
              <a:rPr lang="en-US" sz="800" dirty="0">
                <a:solidFill>
                  <a:schemeClr val="tx1"/>
                </a:solidFill>
              </a:rPr>
            </a:br>
            <a:r>
              <a:rPr lang="en-US" sz="800" dirty="0">
                <a:solidFill>
                  <a:schemeClr val="tx1"/>
                </a:solidFill>
              </a:rPr>
              <a:t>4.Data is validated and transformed by Glue Jobs</a:t>
            </a:r>
            <a:br>
              <a:rPr lang="en-US" sz="800" dirty="0">
                <a:solidFill>
                  <a:schemeClr val="tx1"/>
                </a:solidFill>
              </a:rPr>
            </a:br>
            <a:r>
              <a:rPr lang="en-US" sz="800" dirty="0">
                <a:solidFill>
                  <a:schemeClr val="tx1"/>
                </a:solidFill>
              </a:rPr>
              <a:t>5.Clean data stored in Silver (validated) and Gold (analytics)</a:t>
            </a:r>
          </a:p>
          <a:p>
            <a:r>
              <a:rPr lang="en-US" sz="800" dirty="0">
                <a:solidFill>
                  <a:schemeClr val="tx1"/>
                </a:solidFill>
              </a:rPr>
              <a:t>6.Glue Catalog stores metadata</a:t>
            </a:r>
          </a:p>
          <a:p>
            <a:r>
              <a:rPr lang="en-US" sz="800" dirty="0">
                <a:solidFill>
                  <a:schemeClr val="tx1"/>
                </a:solidFill>
              </a:rPr>
              <a:t>7.Athena queries data in S3 using Glue Catalog</a:t>
            </a:r>
          </a:p>
          <a:p>
            <a:r>
              <a:rPr lang="en-US" sz="800" dirty="0">
                <a:solidFill>
                  <a:schemeClr val="tx1"/>
                </a:solidFill>
              </a:rPr>
              <a:t>8.Tableau connects to Athena via </a:t>
            </a:r>
            <a:r>
              <a:rPr lang="en-US" sz="800" dirty="0" err="1">
                <a:solidFill>
                  <a:schemeClr val="tx1"/>
                </a:solidFill>
              </a:rPr>
              <a:t>PrivateLink</a:t>
            </a:r>
            <a:r>
              <a:rPr lang="en-US" sz="800" dirty="0">
                <a:solidFill>
                  <a:schemeClr val="tx1"/>
                </a:solidFill>
              </a:rPr>
              <a:t> for analysis</a:t>
            </a:r>
          </a:p>
          <a:p>
            <a:pPr algn="ctr"/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9F31903-C3F6-9FF6-22DC-53755497A071}"/>
              </a:ext>
            </a:extLst>
          </p:cNvPr>
          <p:cNvSpPr/>
          <p:nvPr/>
        </p:nvSpPr>
        <p:spPr>
          <a:xfrm>
            <a:off x="2857288" y="5567610"/>
            <a:ext cx="1369526" cy="11968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00" dirty="0">
              <a:solidFill>
                <a:schemeClr val="tx1"/>
              </a:solidFill>
            </a:endParaRPr>
          </a:p>
          <a:p>
            <a:endParaRPr lang="en-US" sz="1000" dirty="0">
              <a:solidFill>
                <a:schemeClr val="tx1"/>
              </a:solidFill>
            </a:endParaRPr>
          </a:p>
          <a:p>
            <a:endParaRPr lang="en-US" sz="1000" dirty="0">
              <a:solidFill>
                <a:schemeClr val="tx1"/>
              </a:solidFill>
            </a:endParaRPr>
          </a:p>
          <a:p>
            <a:endParaRPr lang="en-US" sz="1000" dirty="0">
              <a:solidFill>
                <a:schemeClr val="tx1"/>
              </a:solidFill>
            </a:endParaRPr>
          </a:p>
          <a:p>
            <a:r>
              <a:rPr lang="en-US" sz="1000" dirty="0">
                <a:solidFill>
                  <a:schemeClr val="tx1"/>
                </a:solidFill>
              </a:rPr>
              <a:t>Encryption                             </a:t>
            </a:r>
          </a:p>
          <a:p>
            <a:r>
              <a:rPr lang="en-US" sz="1000" dirty="0">
                <a:solidFill>
                  <a:schemeClr val="tx1"/>
                </a:solidFill>
              </a:rPr>
              <a:t>At Rest (S3 SSE-KMS)</a:t>
            </a:r>
          </a:p>
          <a:p>
            <a:r>
              <a:rPr lang="en-US" sz="1000" dirty="0">
                <a:solidFill>
                  <a:schemeClr val="tx1"/>
                </a:solidFill>
              </a:rPr>
              <a:t>In Transit (TLS 1.2+)</a:t>
            </a:r>
          </a:p>
          <a:p>
            <a:pPr algn="ctr"/>
            <a:endParaRPr lang="en-US" sz="800" dirty="0">
              <a:solidFill>
                <a:schemeClr val="tx1"/>
              </a:solidFill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A361BEE5-EBC0-DBD4-02C9-641224980C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0529" y="5722377"/>
            <a:ext cx="301812" cy="301812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8014FD00-0732-2FF9-ECEB-04332DCDF701}"/>
              </a:ext>
            </a:extLst>
          </p:cNvPr>
          <p:cNvSpPr/>
          <p:nvPr/>
        </p:nvSpPr>
        <p:spPr>
          <a:xfrm>
            <a:off x="2845710" y="5249200"/>
            <a:ext cx="5489680" cy="304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B050"/>
              </a:solidFill>
            </a:endParaRPr>
          </a:p>
          <a:p>
            <a:pPr algn="ctr"/>
            <a:endParaRPr lang="en-US" dirty="0">
              <a:solidFill>
                <a:srgbClr val="00B050"/>
              </a:solidFill>
            </a:endParaRPr>
          </a:p>
          <a:p>
            <a:pPr algn="ctr"/>
            <a:r>
              <a:rPr lang="en-US" dirty="0">
                <a:solidFill>
                  <a:srgbClr val="00B050"/>
                </a:solidFill>
              </a:rPr>
              <a:t>Security &amp; Governance</a:t>
            </a:r>
          </a:p>
          <a:p>
            <a:endParaRPr lang="en-US" sz="1000" dirty="0">
              <a:solidFill>
                <a:schemeClr val="tx1"/>
              </a:solidFill>
            </a:endParaRPr>
          </a:p>
          <a:p>
            <a:endParaRPr lang="en-US" sz="1000" dirty="0">
              <a:solidFill>
                <a:schemeClr val="tx1"/>
              </a:solidFill>
            </a:endParaRPr>
          </a:p>
          <a:p>
            <a:endParaRPr lang="en-US" sz="1000" dirty="0">
              <a:solidFill>
                <a:schemeClr val="tx1"/>
              </a:solidFill>
            </a:endParaRPr>
          </a:p>
          <a:p>
            <a:pPr algn="ctr"/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3F62A3F-2EC9-5F11-C7EE-E0A6E5C00E2E}"/>
              </a:ext>
            </a:extLst>
          </p:cNvPr>
          <p:cNvSpPr/>
          <p:nvPr/>
        </p:nvSpPr>
        <p:spPr>
          <a:xfrm>
            <a:off x="4233209" y="5569798"/>
            <a:ext cx="1369525" cy="11968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00" dirty="0">
              <a:solidFill>
                <a:schemeClr val="tx1"/>
              </a:solidFill>
            </a:endParaRPr>
          </a:p>
          <a:p>
            <a:endParaRPr lang="en-US" sz="1000" dirty="0">
              <a:solidFill>
                <a:schemeClr val="tx1"/>
              </a:solidFill>
            </a:endParaRPr>
          </a:p>
          <a:p>
            <a:endParaRPr lang="en-US" sz="1000" dirty="0">
              <a:solidFill>
                <a:schemeClr val="tx1"/>
              </a:solidFill>
            </a:endParaRPr>
          </a:p>
          <a:p>
            <a:endParaRPr lang="en-US" sz="1000" dirty="0">
              <a:solidFill>
                <a:schemeClr val="tx1"/>
              </a:solidFill>
            </a:endParaRPr>
          </a:p>
          <a:p>
            <a:r>
              <a:rPr lang="en-US" sz="1000" dirty="0">
                <a:solidFill>
                  <a:schemeClr val="tx1"/>
                </a:solidFill>
              </a:rPr>
              <a:t>Least Privilege</a:t>
            </a:r>
          </a:p>
          <a:p>
            <a:r>
              <a:rPr lang="en-US" sz="1000" dirty="0">
                <a:solidFill>
                  <a:schemeClr val="tx1"/>
                </a:solidFill>
              </a:rPr>
              <a:t>IAM Roles for each service</a:t>
            </a:r>
          </a:p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51959B28-A666-65BC-F7CE-804A531FAA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4632" y="5722377"/>
            <a:ext cx="376598" cy="376598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5D4C8E9F-7B28-B00B-5689-E0C8B2E40CDB}"/>
              </a:ext>
            </a:extLst>
          </p:cNvPr>
          <p:cNvSpPr/>
          <p:nvPr/>
        </p:nvSpPr>
        <p:spPr>
          <a:xfrm>
            <a:off x="5610222" y="5569798"/>
            <a:ext cx="1369525" cy="11968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00" dirty="0">
              <a:solidFill>
                <a:schemeClr val="tx1"/>
              </a:solidFill>
            </a:endParaRPr>
          </a:p>
          <a:p>
            <a:endParaRPr lang="en-US" sz="1000" dirty="0">
              <a:solidFill>
                <a:schemeClr val="tx1"/>
              </a:solidFill>
            </a:endParaRPr>
          </a:p>
          <a:p>
            <a:endParaRPr lang="en-US" sz="1000" dirty="0">
              <a:solidFill>
                <a:schemeClr val="tx1"/>
              </a:solidFill>
            </a:endParaRPr>
          </a:p>
          <a:p>
            <a:endParaRPr lang="en-US" sz="1000" dirty="0">
              <a:solidFill>
                <a:schemeClr val="tx1"/>
              </a:solidFill>
            </a:endParaRPr>
          </a:p>
          <a:p>
            <a:r>
              <a:rPr lang="en-US" sz="1000" dirty="0">
                <a:solidFill>
                  <a:schemeClr val="tx1"/>
                </a:solidFill>
              </a:rPr>
              <a:t>Data Governance</a:t>
            </a:r>
          </a:p>
          <a:p>
            <a:r>
              <a:rPr lang="en-US" sz="1000" dirty="0">
                <a:solidFill>
                  <a:schemeClr val="tx1"/>
                </a:solidFill>
              </a:rPr>
              <a:t>Glue Catalog,</a:t>
            </a:r>
          </a:p>
          <a:p>
            <a:r>
              <a:rPr lang="en-US" sz="1000" dirty="0">
                <a:solidFill>
                  <a:schemeClr val="tx1"/>
                </a:solidFill>
              </a:rPr>
              <a:t>Data Quality Rules</a:t>
            </a:r>
          </a:p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DE8ACB9-2811-A370-1956-60D46B15CE0D}"/>
              </a:ext>
            </a:extLst>
          </p:cNvPr>
          <p:cNvSpPr/>
          <p:nvPr/>
        </p:nvSpPr>
        <p:spPr>
          <a:xfrm>
            <a:off x="6965865" y="5567610"/>
            <a:ext cx="1369525" cy="11968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00" dirty="0">
              <a:solidFill>
                <a:schemeClr val="tx1"/>
              </a:solidFill>
            </a:endParaRPr>
          </a:p>
          <a:p>
            <a:endParaRPr lang="en-US" sz="1000" dirty="0">
              <a:solidFill>
                <a:schemeClr val="tx1"/>
              </a:solidFill>
            </a:endParaRPr>
          </a:p>
          <a:p>
            <a:endParaRPr lang="en-US" sz="1000" dirty="0">
              <a:solidFill>
                <a:schemeClr val="tx1"/>
              </a:solidFill>
            </a:endParaRPr>
          </a:p>
          <a:p>
            <a:endParaRPr lang="en-US" sz="1000" dirty="0">
              <a:solidFill>
                <a:schemeClr val="tx1"/>
              </a:solidFill>
            </a:endParaRPr>
          </a:p>
          <a:p>
            <a:r>
              <a:rPr lang="en-US" sz="1000" dirty="0">
                <a:solidFill>
                  <a:schemeClr val="tx1"/>
                </a:solidFill>
              </a:rPr>
              <a:t>Logging &amp; Auditing</a:t>
            </a:r>
          </a:p>
          <a:p>
            <a:r>
              <a:rPr lang="en-US" sz="1000" dirty="0">
                <a:solidFill>
                  <a:schemeClr val="tx1"/>
                </a:solidFill>
              </a:rPr>
              <a:t>CloudTrail, CloudWatch,</a:t>
            </a:r>
          </a:p>
          <a:p>
            <a:r>
              <a:rPr lang="en-US" sz="1000" dirty="0">
                <a:solidFill>
                  <a:schemeClr val="tx1"/>
                </a:solidFill>
              </a:rPr>
              <a:t>AWS Config</a:t>
            </a:r>
          </a:p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8756887C-B418-0B94-DCCD-FD3EA381FE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05639" y="5694639"/>
            <a:ext cx="389055" cy="389055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E43E0FA1-3536-4B3B-B5CE-EE9019B42A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60727" y="5693324"/>
            <a:ext cx="337671" cy="337671"/>
          </a:xfrm>
          <a:prstGeom prst="rect">
            <a:avLst/>
          </a:prstGeom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644A41FB-C754-7B8C-8E23-332C526142F6}"/>
              </a:ext>
            </a:extLst>
          </p:cNvPr>
          <p:cNvSpPr/>
          <p:nvPr/>
        </p:nvSpPr>
        <p:spPr>
          <a:xfrm>
            <a:off x="8341785" y="5246746"/>
            <a:ext cx="2437051" cy="151527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800" dirty="0">
              <a:solidFill>
                <a:schemeClr val="tx1"/>
              </a:solidFill>
            </a:endParaRPr>
          </a:p>
          <a:p>
            <a:endParaRPr lang="en-US" sz="800" dirty="0">
              <a:solidFill>
                <a:schemeClr val="tx1"/>
              </a:solidFill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Key Design Principles</a:t>
            </a:r>
          </a:p>
          <a:p>
            <a:r>
              <a:rPr lang="en-US" sz="800" dirty="0">
                <a:solidFill>
                  <a:schemeClr val="tx1"/>
                </a:solidFill>
              </a:rPr>
              <a:t>All processing and analytics components are in private subnets</a:t>
            </a:r>
          </a:p>
          <a:p>
            <a:r>
              <a:rPr lang="en-US" sz="800" dirty="0">
                <a:solidFill>
                  <a:schemeClr val="tx1"/>
                </a:solidFill>
              </a:rPr>
              <a:t>No inbound access from internet</a:t>
            </a:r>
          </a:p>
          <a:p>
            <a:r>
              <a:rPr lang="en-US" sz="800" dirty="0">
                <a:solidFill>
                  <a:schemeClr val="tx1"/>
                </a:solidFill>
              </a:rPr>
              <a:t>VPC Endpoints ensure private communication with AWS services</a:t>
            </a:r>
          </a:p>
          <a:p>
            <a:r>
              <a:rPr lang="en-US" sz="800" dirty="0">
                <a:solidFill>
                  <a:schemeClr val="tx1"/>
                </a:solidFill>
              </a:rPr>
              <a:t>S3 encryption, IAM least privilege, logging and monitoring enabled Scalable, serverless where possible (Lambda, Glue, Athena)</a:t>
            </a:r>
          </a:p>
          <a:p>
            <a:r>
              <a:rPr lang="en-US" sz="800" dirty="0">
                <a:solidFill>
                  <a:schemeClr val="tx1"/>
                </a:solidFill>
              </a:rPr>
              <a:t>Cost optimized with S3 lifecycle, partitioning and serverless services</a:t>
            </a:r>
          </a:p>
          <a:p>
            <a:pPr algn="ctr"/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ACC255A-B00A-C714-D2FC-56DE0FF0099F}"/>
              </a:ext>
            </a:extLst>
          </p:cNvPr>
          <p:cNvSpPr/>
          <p:nvPr/>
        </p:nvSpPr>
        <p:spPr>
          <a:xfrm>
            <a:off x="10810317" y="4087682"/>
            <a:ext cx="1330557" cy="26631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tx1"/>
                </a:solidFill>
              </a:rPr>
              <a:t>Legend</a:t>
            </a:r>
          </a:p>
          <a:p>
            <a:endParaRPr lang="en-US" sz="1000" dirty="0">
              <a:solidFill>
                <a:schemeClr val="tx1"/>
              </a:solidFill>
            </a:endParaRPr>
          </a:p>
          <a:p>
            <a:r>
              <a:rPr lang="en-US" sz="1000" dirty="0">
                <a:solidFill>
                  <a:schemeClr val="tx1"/>
                </a:solidFill>
              </a:rPr>
              <a:t>          Ingression Layer</a:t>
            </a:r>
          </a:p>
          <a:p>
            <a:endParaRPr lang="en-US" sz="1000" dirty="0">
              <a:solidFill>
                <a:schemeClr val="tx1"/>
              </a:solidFill>
            </a:endParaRPr>
          </a:p>
          <a:p>
            <a:endParaRPr lang="en-US" sz="1000" dirty="0">
              <a:solidFill>
                <a:schemeClr val="tx1"/>
              </a:solidFill>
            </a:endParaRPr>
          </a:p>
          <a:p>
            <a:r>
              <a:rPr lang="en-US" sz="1000" dirty="0">
                <a:solidFill>
                  <a:schemeClr val="tx1"/>
                </a:solidFill>
              </a:rPr>
              <a:t>        Processing Layer</a:t>
            </a:r>
          </a:p>
          <a:p>
            <a:endParaRPr lang="en-US" sz="1000" dirty="0">
              <a:solidFill>
                <a:schemeClr val="tx1"/>
              </a:solidFill>
            </a:endParaRPr>
          </a:p>
          <a:p>
            <a:r>
              <a:rPr lang="en-US" sz="1000" dirty="0">
                <a:solidFill>
                  <a:schemeClr val="tx1"/>
                </a:solidFill>
              </a:rPr>
              <a:t>           Storage Layer</a:t>
            </a:r>
          </a:p>
          <a:p>
            <a:endParaRPr lang="en-US" sz="1000" dirty="0">
              <a:solidFill>
                <a:schemeClr val="tx1"/>
              </a:solidFill>
            </a:endParaRPr>
          </a:p>
          <a:p>
            <a:endParaRPr lang="en-US" sz="1000" dirty="0">
              <a:solidFill>
                <a:schemeClr val="tx1"/>
              </a:solidFill>
            </a:endParaRPr>
          </a:p>
          <a:p>
            <a:r>
              <a:rPr lang="en-US" sz="1000" dirty="0">
                <a:solidFill>
                  <a:schemeClr val="tx1"/>
                </a:solidFill>
              </a:rPr>
              <a:t>         Analytics Layer</a:t>
            </a:r>
          </a:p>
          <a:p>
            <a:pPr algn="ctr"/>
            <a:endParaRPr lang="en-US" sz="1000" dirty="0">
              <a:solidFill>
                <a:schemeClr val="tx1"/>
              </a:solidFill>
            </a:endParaRPr>
          </a:p>
          <a:p>
            <a:pPr algn="ctr"/>
            <a:endParaRPr lang="en-US" sz="1000" dirty="0">
              <a:solidFill>
                <a:schemeClr val="tx1"/>
              </a:solidFill>
            </a:endParaRP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Monitoring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B693862-5F21-E271-F9E5-CDA60554D256}"/>
              </a:ext>
            </a:extLst>
          </p:cNvPr>
          <p:cNvSpPr txBox="1"/>
          <p:nvPr/>
        </p:nvSpPr>
        <p:spPr>
          <a:xfrm>
            <a:off x="219679" y="3009694"/>
            <a:ext cx="10888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Internet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09EC295-908C-94FA-CE1F-25D6568F0AE9}"/>
              </a:ext>
            </a:extLst>
          </p:cNvPr>
          <p:cNvSpPr/>
          <p:nvPr/>
        </p:nvSpPr>
        <p:spPr>
          <a:xfrm>
            <a:off x="1353300" y="4646276"/>
            <a:ext cx="7243286" cy="51927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D140D2D-9D06-7B24-5F31-009C5E4C56A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68250" y="4848271"/>
            <a:ext cx="249722" cy="276680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4CB08791-26AE-3784-2A08-9E61E0465515}"/>
              </a:ext>
            </a:extLst>
          </p:cNvPr>
          <p:cNvSpPr txBox="1"/>
          <p:nvPr/>
        </p:nvSpPr>
        <p:spPr>
          <a:xfrm>
            <a:off x="1585353" y="4817334"/>
            <a:ext cx="8113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Amazon CloudWatch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EC03ABA4-EB91-5A6E-2AAC-4849485C4D7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09312" y="4875386"/>
            <a:ext cx="261634" cy="261634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4ED1E58B-BD03-B5E3-008E-B84D7218963A}"/>
              </a:ext>
            </a:extLst>
          </p:cNvPr>
          <p:cNvSpPr txBox="1"/>
          <p:nvPr/>
        </p:nvSpPr>
        <p:spPr>
          <a:xfrm>
            <a:off x="2540592" y="4843193"/>
            <a:ext cx="8788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AWS CloudTrail  (Audit Logs)</a:t>
            </a:r>
          </a:p>
          <a:p>
            <a:endParaRPr lang="en-US" sz="8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4D93CAA-2B1B-140A-6360-D8918C1BF463}"/>
              </a:ext>
            </a:extLst>
          </p:cNvPr>
          <p:cNvSpPr txBox="1"/>
          <p:nvPr/>
        </p:nvSpPr>
        <p:spPr>
          <a:xfrm>
            <a:off x="3628623" y="4817334"/>
            <a:ext cx="12218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Amazon S3</a:t>
            </a:r>
          </a:p>
          <a:p>
            <a:r>
              <a:rPr lang="en-US" sz="800" dirty="0"/>
              <a:t>(Athena Query Results)</a:t>
            </a:r>
          </a:p>
        </p:txBody>
      </p:sp>
      <p:pic>
        <p:nvPicPr>
          <p:cNvPr id="57" name="Picture 56" descr="A white line on a green background&#10;&#10;AI-generated content may be incorrect.">
            <a:extLst>
              <a:ext uri="{FF2B5EF4-FFF2-40B4-BE49-F238E27FC236}">
                <a16:creationId xmlns:a16="http://schemas.microsoft.com/office/drawing/2014/main" id="{1B705035-1C14-9400-1A92-EB72BFB3DF1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89651" y="4843193"/>
            <a:ext cx="304800" cy="3048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9E9E4DA-A9F2-199B-AE1D-D063DFE476A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54843" y="4837414"/>
            <a:ext cx="304800" cy="304800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8B28EB8E-E2E9-F12B-F379-02E5C40F0BF0}"/>
              </a:ext>
            </a:extLst>
          </p:cNvPr>
          <p:cNvSpPr txBox="1"/>
          <p:nvPr/>
        </p:nvSpPr>
        <p:spPr>
          <a:xfrm>
            <a:off x="4963418" y="4813040"/>
            <a:ext cx="11950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Amazon SNS</a:t>
            </a:r>
          </a:p>
          <a:p>
            <a:r>
              <a:rPr lang="en-US" sz="800" dirty="0"/>
              <a:t>(Alerts &amp; Notifications)</a:t>
            </a:r>
          </a:p>
          <a:p>
            <a:endParaRPr lang="en-US" sz="800" dirty="0"/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E660C599-8D42-9A26-E6D2-A3BC7215AFB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53661" y="4853697"/>
            <a:ext cx="276744" cy="276744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42B6C79C-5A98-3E9B-56FA-DA5B71A1700E}"/>
              </a:ext>
            </a:extLst>
          </p:cNvPr>
          <p:cNvSpPr txBox="1"/>
          <p:nvPr/>
        </p:nvSpPr>
        <p:spPr>
          <a:xfrm>
            <a:off x="6263354" y="4894793"/>
            <a:ext cx="84512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AWS Backup</a:t>
            </a:r>
          </a:p>
          <a:p>
            <a:endParaRPr lang="en-US" dirty="0"/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AF74E882-8938-60BB-E366-C58E111FFE7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88754" y="4847676"/>
            <a:ext cx="249200" cy="249200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4CE3EBE1-A023-9AA4-22CD-F7D7ED9812BA}"/>
              </a:ext>
            </a:extLst>
          </p:cNvPr>
          <p:cNvSpPr txBox="1"/>
          <p:nvPr/>
        </p:nvSpPr>
        <p:spPr>
          <a:xfrm>
            <a:off x="7280405" y="4840605"/>
            <a:ext cx="13161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AWS Config (Compliance)</a:t>
            </a:r>
          </a:p>
          <a:p>
            <a:endParaRPr lang="en-US" sz="8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E329328-5803-5652-D43E-26701CE92510}"/>
              </a:ext>
            </a:extLst>
          </p:cNvPr>
          <p:cNvSpPr txBox="1"/>
          <p:nvPr/>
        </p:nvSpPr>
        <p:spPr>
          <a:xfrm>
            <a:off x="1400600" y="4643138"/>
            <a:ext cx="19487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accent1"/>
                </a:solidFill>
              </a:rPr>
              <a:t>Shared Services (Private)</a:t>
            </a:r>
          </a:p>
          <a:p>
            <a:endParaRPr lang="en-US" sz="1000" b="1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0F67896-AFCB-48C1-ED73-080BBF6918B5}"/>
              </a:ext>
            </a:extLst>
          </p:cNvPr>
          <p:cNvSpPr/>
          <p:nvPr/>
        </p:nvSpPr>
        <p:spPr>
          <a:xfrm>
            <a:off x="1353300" y="1517009"/>
            <a:ext cx="1348336" cy="289710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AFB6C39-1311-5135-B4D3-AC3AA0EB1366}"/>
              </a:ext>
            </a:extLst>
          </p:cNvPr>
          <p:cNvSpPr/>
          <p:nvPr/>
        </p:nvSpPr>
        <p:spPr>
          <a:xfrm>
            <a:off x="2878478" y="1964167"/>
            <a:ext cx="1348336" cy="246593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99418A3-65B6-B31E-4792-FFC41FA2946C}"/>
              </a:ext>
            </a:extLst>
          </p:cNvPr>
          <p:cNvSpPr/>
          <p:nvPr/>
        </p:nvSpPr>
        <p:spPr>
          <a:xfrm>
            <a:off x="4682054" y="1960328"/>
            <a:ext cx="1348336" cy="17927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FF8AA1D-72A9-E8B6-C280-68522B3DEC33}"/>
              </a:ext>
            </a:extLst>
          </p:cNvPr>
          <p:cNvSpPr/>
          <p:nvPr/>
        </p:nvSpPr>
        <p:spPr>
          <a:xfrm>
            <a:off x="6125807" y="1971103"/>
            <a:ext cx="1199880" cy="21303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30F1DC73-9018-6704-AD74-7A6F9957ED24}"/>
              </a:ext>
            </a:extLst>
          </p:cNvPr>
          <p:cNvSpPr/>
          <p:nvPr/>
        </p:nvSpPr>
        <p:spPr>
          <a:xfrm>
            <a:off x="4682054" y="3929475"/>
            <a:ext cx="1348336" cy="50921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E9385BB6-4552-B137-A99A-95EE351A2F85}"/>
              </a:ext>
            </a:extLst>
          </p:cNvPr>
          <p:cNvSpPr/>
          <p:nvPr/>
        </p:nvSpPr>
        <p:spPr>
          <a:xfrm>
            <a:off x="8805781" y="1517009"/>
            <a:ext cx="1672713" cy="347858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D6760830-6AE0-D93F-646E-6FE0FC0EC4BD}"/>
              </a:ext>
            </a:extLst>
          </p:cNvPr>
          <p:cNvSpPr/>
          <p:nvPr/>
        </p:nvSpPr>
        <p:spPr>
          <a:xfrm>
            <a:off x="10613320" y="593805"/>
            <a:ext cx="1470886" cy="333567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45E11FE-81CE-BC22-D618-480F7E07BED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20765" y="1879403"/>
            <a:ext cx="304800" cy="3048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A6831AA4-AED0-53FD-A129-60BE9CC6924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07443" y="2480440"/>
            <a:ext cx="304800" cy="3048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0ADA8A4-D359-68F9-990C-FFD81D2B5CE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21686" y="3068330"/>
            <a:ext cx="304800" cy="3048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14CAE60F-F7FE-3958-6ED2-74F69EFC53E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407443" y="3715764"/>
            <a:ext cx="398672" cy="398672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5CC9FEA2-136B-AE60-FD66-273AD695F2DA}"/>
              </a:ext>
            </a:extLst>
          </p:cNvPr>
          <p:cNvSpPr txBox="1"/>
          <p:nvPr/>
        </p:nvSpPr>
        <p:spPr>
          <a:xfrm>
            <a:off x="1692193" y="1803194"/>
            <a:ext cx="134833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Amazon </a:t>
            </a:r>
            <a:r>
              <a:rPr lang="en-US" sz="800" dirty="0" err="1"/>
              <a:t>EventBridge</a:t>
            </a:r>
            <a:endParaRPr lang="en-US" sz="800" dirty="0"/>
          </a:p>
          <a:p>
            <a:r>
              <a:rPr lang="en-US" sz="800" dirty="0"/>
              <a:t>(Schedule)</a:t>
            </a:r>
          </a:p>
          <a:p>
            <a:endParaRPr lang="en-US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C3BC0CE-23EA-28E8-6530-E22A1C5236C8}"/>
              </a:ext>
            </a:extLst>
          </p:cNvPr>
          <p:cNvSpPr txBox="1"/>
          <p:nvPr/>
        </p:nvSpPr>
        <p:spPr>
          <a:xfrm>
            <a:off x="1671901" y="2425643"/>
            <a:ext cx="134833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AWS Step Function</a:t>
            </a:r>
          </a:p>
          <a:p>
            <a:r>
              <a:rPr lang="en-US" sz="800" dirty="0"/>
              <a:t>(Workflow))</a:t>
            </a:r>
          </a:p>
          <a:p>
            <a:endParaRPr lang="en-US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D2E39D2-963F-9910-334C-E71E98A8A612}"/>
              </a:ext>
            </a:extLst>
          </p:cNvPr>
          <p:cNvSpPr txBox="1"/>
          <p:nvPr/>
        </p:nvSpPr>
        <p:spPr>
          <a:xfrm>
            <a:off x="1681667" y="3036283"/>
            <a:ext cx="134833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AWS Lambda</a:t>
            </a:r>
          </a:p>
          <a:p>
            <a:r>
              <a:rPr lang="en-US" sz="800" dirty="0"/>
              <a:t>(Downloader)</a:t>
            </a:r>
          </a:p>
          <a:p>
            <a:endParaRPr lang="en-US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1BDBDEB-1E39-85E3-AEA2-85F2F3979E6B}"/>
              </a:ext>
            </a:extLst>
          </p:cNvPr>
          <p:cNvSpPr txBox="1"/>
          <p:nvPr/>
        </p:nvSpPr>
        <p:spPr>
          <a:xfrm>
            <a:off x="1765961" y="3769274"/>
            <a:ext cx="134833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NAT Gateway</a:t>
            </a:r>
          </a:p>
          <a:p>
            <a:endParaRPr lang="en-US" dirty="0"/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F2019E3A-EE80-9E19-EF30-DB9FEDDCA26C}"/>
              </a:ext>
            </a:extLst>
          </p:cNvPr>
          <p:cNvCxnSpPr>
            <a:stCxn id="25" idx="2"/>
          </p:cNvCxnSpPr>
          <p:nvPr/>
        </p:nvCxnSpPr>
        <p:spPr>
          <a:xfrm>
            <a:off x="1573165" y="2184203"/>
            <a:ext cx="12188" cy="2711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EC141628-2D8D-8460-188E-3F46AEF30CA1}"/>
              </a:ext>
            </a:extLst>
          </p:cNvPr>
          <p:cNvCxnSpPr/>
          <p:nvPr/>
        </p:nvCxnSpPr>
        <p:spPr>
          <a:xfrm>
            <a:off x="1573163" y="2821514"/>
            <a:ext cx="12188" cy="2711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DC1D27D0-C43C-80B2-91F8-F8A1E51B4DAC}"/>
              </a:ext>
            </a:extLst>
          </p:cNvPr>
          <p:cNvCxnSpPr/>
          <p:nvPr/>
        </p:nvCxnSpPr>
        <p:spPr>
          <a:xfrm>
            <a:off x="1587018" y="3340484"/>
            <a:ext cx="12188" cy="3969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9A1FBA20-441C-985B-EEA5-88AF2060F3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5317" y="1544486"/>
            <a:ext cx="254000" cy="254000"/>
          </a:xfrm>
          <a:prstGeom prst="rect">
            <a:avLst/>
          </a:prstGeom>
        </p:spPr>
      </p:pic>
      <p:sp>
        <p:nvSpPr>
          <p:cNvPr id="87" name="TextBox 86">
            <a:extLst>
              <a:ext uri="{FF2B5EF4-FFF2-40B4-BE49-F238E27FC236}">
                <a16:creationId xmlns:a16="http://schemas.microsoft.com/office/drawing/2014/main" id="{D93DD35C-BA06-F8F1-5454-274EE9A31F78}"/>
              </a:ext>
            </a:extLst>
          </p:cNvPr>
          <p:cNvSpPr txBox="1"/>
          <p:nvPr/>
        </p:nvSpPr>
        <p:spPr>
          <a:xfrm>
            <a:off x="1592914" y="1494564"/>
            <a:ext cx="139967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Public Subnet (ingress)</a:t>
            </a:r>
          </a:p>
          <a:p>
            <a:endParaRPr lang="en-US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D10FF03-BEE6-498C-66D7-98AE84B11332}"/>
              </a:ext>
            </a:extLst>
          </p:cNvPr>
          <p:cNvSpPr txBox="1"/>
          <p:nvPr/>
        </p:nvSpPr>
        <p:spPr>
          <a:xfrm>
            <a:off x="3134509" y="1571508"/>
            <a:ext cx="11356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Private Subnets </a:t>
            </a:r>
          </a:p>
          <a:p>
            <a:endParaRPr lang="en-US" dirty="0"/>
          </a:p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73487C28-EE8A-D26C-CAEF-A94B3274FD4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871952" y="1557701"/>
            <a:ext cx="275417" cy="275417"/>
          </a:xfrm>
          <a:prstGeom prst="rect">
            <a:avLst/>
          </a:prstGeom>
        </p:spPr>
      </p:pic>
      <p:sp>
        <p:nvSpPr>
          <p:cNvPr id="90" name="TextBox 89">
            <a:extLst>
              <a:ext uri="{FF2B5EF4-FFF2-40B4-BE49-F238E27FC236}">
                <a16:creationId xmlns:a16="http://schemas.microsoft.com/office/drawing/2014/main" id="{0F0B7C63-B294-A996-494D-D5F9FA26052B}"/>
              </a:ext>
            </a:extLst>
          </p:cNvPr>
          <p:cNvSpPr txBox="1"/>
          <p:nvPr/>
        </p:nvSpPr>
        <p:spPr>
          <a:xfrm>
            <a:off x="2871952" y="2043017"/>
            <a:ext cx="110006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S3 Landing Zone (Bronze)</a:t>
            </a:r>
          </a:p>
          <a:p>
            <a:endParaRPr lang="en-US" dirty="0"/>
          </a:p>
        </p:txBody>
      </p:sp>
      <p:pic>
        <p:nvPicPr>
          <p:cNvPr id="91" name="Picture 90" descr="A white line on a green background&#10;&#10;AI-generated content may be incorrect.">
            <a:extLst>
              <a:ext uri="{FF2B5EF4-FFF2-40B4-BE49-F238E27FC236}">
                <a16:creationId xmlns:a16="http://schemas.microsoft.com/office/drawing/2014/main" id="{BDA23003-ED45-276F-B130-4D49E2A27C9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62422" y="2522999"/>
            <a:ext cx="360330" cy="360330"/>
          </a:xfrm>
          <a:prstGeom prst="rect">
            <a:avLst/>
          </a:prstGeom>
        </p:spPr>
      </p:pic>
      <p:sp>
        <p:nvSpPr>
          <p:cNvPr id="92" name="TextBox 91">
            <a:extLst>
              <a:ext uri="{FF2B5EF4-FFF2-40B4-BE49-F238E27FC236}">
                <a16:creationId xmlns:a16="http://schemas.microsoft.com/office/drawing/2014/main" id="{E65AA49E-F58E-4225-D6D7-208817B724F9}"/>
              </a:ext>
            </a:extLst>
          </p:cNvPr>
          <p:cNvSpPr txBox="1"/>
          <p:nvPr/>
        </p:nvSpPr>
        <p:spPr>
          <a:xfrm>
            <a:off x="2873560" y="3620654"/>
            <a:ext cx="10888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Versioning</a:t>
            </a:r>
          </a:p>
          <a:p>
            <a:r>
              <a:rPr lang="en-US" sz="800" dirty="0"/>
              <a:t>Lifecycle Policy</a:t>
            </a:r>
          </a:p>
          <a:p>
            <a:r>
              <a:rPr lang="en-US" sz="800" dirty="0"/>
              <a:t>SSE-KMS Encryption</a:t>
            </a:r>
          </a:p>
          <a:p>
            <a:r>
              <a:rPr lang="en-US" sz="800" dirty="0"/>
              <a:t>Access via VPC Endpoint</a:t>
            </a:r>
          </a:p>
          <a:p>
            <a:endParaRPr lang="en-US" sz="800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D78E3B9-9896-8F90-523F-41583F266AE4}"/>
              </a:ext>
            </a:extLst>
          </p:cNvPr>
          <p:cNvSpPr txBox="1"/>
          <p:nvPr/>
        </p:nvSpPr>
        <p:spPr>
          <a:xfrm>
            <a:off x="2890104" y="2856684"/>
            <a:ext cx="113566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Amazon S3</a:t>
            </a:r>
          </a:p>
          <a:p>
            <a:r>
              <a:rPr lang="en-US" sz="1000" b="1" dirty="0"/>
              <a:t>Landing Bucket</a:t>
            </a:r>
          </a:p>
          <a:p>
            <a:r>
              <a:rPr lang="en-US" sz="1000" dirty="0"/>
              <a:t>/raw/</a:t>
            </a:r>
          </a:p>
          <a:p>
            <a:r>
              <a:rPr lang="en-US" sz="1000" dirty="0"/>
              <a:t>/failed/</a:t>
            </a:r>
          </a:p>
          <a:p>
            <a:r>
              <a:rPr lang="en-US" altLang="ja-JP" sz="1000" dirty="0"/>
              <a:t>/</a:t>
            </a:r>
            <a:r>
              <a:rPr lang="en-US" sz="1000" dirty="0"/>
              <a:t>archive/</a:t>
            </a:r>
          </a:p>
          <a:p>
            <a:endParaRPr lang="en-US" sz="1000" dirty="0"/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FFD66EFD-6253-3C8E-5BF3-310BEE698BC0}"/>
              </a:ext>
            </a:extLst>
          </p:cNvPr>
          <p:cNvCxnSpPr/>
          <p:nvPr/>
        </p:nvCxnSpPr>
        <p:spPr>
          <a:xfrm flipV="1">
            <a:off x="1991042" y="4384801"/>
            <a:ext cx="0" cy="2335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0783DF1D-7E4B-AD0A-F3F3-CE7C59EBD299}"/>
              </a:ext>
            </a:extLst>
          </p:cNvPr>
          <p:cNvCxnSpPr/>
          <p:nvPr/>
        </p:nvCxnSpPr>
        <p:spPr>
          <a:xfrm flipV="1">
            <a:off x="3612024" y="4398652"/>
            <a:ext cx="0" cy="2335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3E27F0F3-9037-7C0E-22DD-1AFCB4A8B693}"/>
              </a:ext>
            </a:extLst>
          </p:cNvPr>
          <p:cNvCxnSpPr/>
          <p:nvPr/>
        </p:nvCxnSpPr>
        <p:spPr>
          <a:xfrm flipV="1">
            <a:off x="5385412" y="4440216"/>
            <a:ext cx="0" cy="2335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48AA1F44-3AFB-50AE-1901-E8E6B91217F9}"/>
              </a:ext>
            </a:extLst>
          </p:cNvPr>
          <p:cNvCxnSpPr/>
          <p:nvPr/>
        </p:nvCxnSpPr>
        <p:spPr>
          <a:xfrm flipV="1">
            <a:off x="6604607" y="4087682"/>
            <a:ext cx="0" cy="5506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687AB151-AAB9-66E7-43F8-AE68B6F12C09}"/>
              </a:ext>
            </a:extLst>
          </p:cNvPr>
          <p:cNvCxnSpPr/>
          <p:nvPr/>
        </p:nvCxnSpPr>
        <p:spPr>
          <a:xfrm>
            <a:off x="4270177" y="3009694"/>
            <a:ext cx="4118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64C51FAE-1360-D8C2-F3FC-31AC3E042DAA}"/>
              </a:ext>
            </a:extLst>
          </p:cNvPr>
          <p:cNvSpPr txBox="1"/>
          <p:nvPr/>
        </p:nvSpPr>
        <p:spPr>
          <a:xfrm>
            <a:off x="4049972" y="2603924"/>
            <a:ext cx="7894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S3 Event Notification</a:t>
            </a:r>
          </a:p>
        </p:txBody>
      </p:sp>
      <p:cxnSp>
        <p:nvCxnSpPr>
          <p:cNvPr id="105" name="Elbow Connector 104">
            <a:extLst>
              <a:ext uri="{FF2B5EF4-FFF2-40B4-BE49-F238E27FC236}">
                <a16:creationId xmlns:a16="http://schemas.microsoft.com/office/drawing/2014/main" id="{DCDAC0FE-94E4-9CCB-60A6-D61B040EBEB4}"/>
              </a:ext>
            </a:extLst>
          </p:cNvPr>
          <p:cNvCxnSpPr>
            <a:endCxn id="19" idx="1"/>
          </p:cNvCxnSpPr>
          <p:nvPr/>
        </p:nvCxnSpPr>
        <p:spPr>
          <a:xfrm>
            <a:off x="957007" y="2965562"/>
            <a:ext cx="464679" cy="25516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58A727DB-0715-C104-D972-C72446EA707D}"/>
              </a:ext>
            </a:extLst>
          </p:cNvPr>
          <p:cNvCxnSpPr/>
          <p:nvPr/>
        </p:nvCxnSpPr>
        <p:spPr>
          <a:xfrm flipV="1">
            <a:off x="2701636" y="2880142"/>
            <a:ext cx="170316" cy="3405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4" name="Picture 113">
            <a:extLst>
              <a:ext uri="{FF2B5EF4-FFF2-40B4-BE49-F238E27FC236}">
                <a16:creationId xmlns:a16="http://schemas.microsoft.com/office/drawing/2014/main" id="{647DA9D4-68BD-94A9-8AEB-571BBA0AC530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764073" y="2266655"/>
            <a:ext cx="215933" cy="215933"/>
          </a:xfrm>
          <a:prstGeom prst="rect">
            <a:avLst/>
          </a:prstGeom>
        </p:spPr>
      </p:pic>
      <p:pic>
        <p:nvPicPr>
          <p:cNvPr id="116" name="Picture 115">
            <a:extLst>
              <a:ext uri="{FF2B5EF4-FFF2-40B4-BE49-F238E27FC236}">
                <a16:creationId xmlns:a16="http://schemas.microsoft.com/office/drawing/2014/main" id="{64EECC74-5A88-6DE7-D25C-FCE90C82096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737100" y="2647747"/>
            <a:ext cx="275417" cy="275417"/>
          </a:xfrm>
          <a:prstGeom prst="rect">
            <a:avLst/>
          </a:pr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0070D2FE-3087-874A-EA29-05B5E55FACBF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484543" y="2733419"/>
            <a:ext cx="502222" cy="502222"/>
          </a:xfrm>
          <a:prstGeom prst="rect">
            <a:avLst/>
          </a:prstGeom>
        </p:spPr>
      </p:pic>
      <p:pic>
        <p:nvPicPr>
          <p:cNvPr id="119" name="Picture 118">
            <a:extLst>
              <a:ext uri="{FF2B5EF4-FFF2-40B4-BE49-F238E27FC236}">
                <a16:creationId xmlns:a16="http://schemas.microsoft.com/office/drawing/2014/main" id="{A0877D90-86F5-1C91-353E-6D17A6C90630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779481" y="3082983"/>
            <a:ext cx="215933" cy="215933"/>
          </a:xfrm>
          <a:prstGeom prst="rect">
            <a:avLst/>
          </a:prstGeom>
        </p:spPr>
      </p:pic>
      <p:pic>
        <p:nvPicPr>
          <p:cNvPr id="121" name="Picture 120">
            <a:extLst>
              <a:ext uri="{FF2B5EF4-FFF2-40B4-BE49-F238E27FC236}">
                <a16:creationId xmlns:a16="http://schemas.microsoft.com/office/drawing/2014/main" id="{1172E9F7-B953-9AD0-7498-3BD45CB622A0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745162" y="3403233"/>
            <a:ext cx="304800" cy="304800"/>
          </a:xfrm>
          <a:prstGeom prst="rect">
            <a:avLst/>
          </a:prstGeom>
        </p:spPr>
      </p:pic>
      <p:sp>
        <p:nvSpPr>
          <p:cNvPr id="122" name="TextBox 121">
            <a:extLst>
              <a:ext uri="{FF2B5EF4-FFF2-40B4-BE49-F238E27FC236}">
                <a16:creationId xmlns:a16="http://schemas.microsoft.com/office/drawing/2014/main" id="{91E120AF-B026-F44E-6780-C6B38BE1188E}"/>
              </a:ext>
            </a:extLst>
          </p:cNvPr>
          <p:cNvSpPr txBox="1"/>
          <p:nvPr/>
        </p:nvSpPr>
        <p:spPr>
          <a:xfrm>
            <a:off x="4636138" y="1904402"/>
            <a:ext cx="139967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AWS Glue Workflow (ETL &amp; Validation)</a:t>
            </a:r>
          </a:p>
          <a:p>
            <a:endParaRPr lang="en-US" dirty="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74DEEFBD-1649-C808-6BCC-2B68CBEF4AA7}"/>
              </a:ext>
            </a:extLst>
          </p:cNvPr>
          <p:cNvSpPr txBox="1"/>
          <p:nvPr/>
        </p:nvSpPr>
        <p:spPr>
          <a:xfrm>
            <a:off x="4958463" y="2280136"/>
            <a:ext cx="116829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AWS Glue Workflow </a:t>
            </a:r>
          </a:p>
          <a:p>
            <a:endParaRPr lang="en-US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4C9E2193-D504-DFED-4DA7-C5B18A8A21AD}"/>
              </a:ext>
            </a:extLst>
          </p:cNvPr>
          <p:cNvSpPr txBox="1"/>
          <p:nvPr/>
        </p:nvSpPr>
        <p:spPr>
          <a:xfrm>
            <a:off x="5000218" y="2671139"/>
            <a:ext cx="116829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AWS Glue Crawler </a:t>
            </a:r>
          </a:p>
          <a:p>
            <a:endParaRPr lang="en-US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2FE44167-C93A-4879-7DCE-CCC40AD82A9B}"/>
              </a:ext>
            </a:extLst>
          </p:cNvPr>
          <p:cNvSpPr txBox="1"/>
          <p:nvPr/>
        </p:nvSpPr>
        <p:spPr>
          <a:xfrm>
            <a:off x="4996922" y="3094262"/>
            <a:ext cx="116829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AWS Glue Job </a:t>
            </a:r>
          </a:p>
          <a:p>
            <a:endParaRPr lang="en-US" dirty="0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4F7DDFDB-5F55-0D59-6DE7-7C5B91C1F80F}"/>
              </a:ext>
            </a:extLst>
          </p:cNvPr>
          <p:cNvSpPr txBox="1"/>
          <p:nvPr/>
        </p:nvSpPr>
        <p:spPr>
          <a:xfrm>
            <a:off x="4976802" y="3490054"/>
            <a:ext cx="116829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Data Quality Rule</a:t>
            </a:r>
          </a:p>
          <a:p>
            <a:endParaRPr lang="en-US" dirty="0"/>
          </a:p>
        </p:txBody>
      </p: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31EC86B1-E292-D4D8-A8DE-B0F9E33DBB74}"/>
              </a:ext>
            </a:extLst>
          </p:cNvPr>
          <p:cNvCxnSpPr>
            <a:stCxn id="114" idx="2"/>
          </p:cNvCxnSpPr>
          <p:nvPr/>
        </p:nvCxnSpPr>
        <p:spPr>
          <a:xfrm flipH="1">
            <a:off x="4872039" y="2494384"/>
            <a:ext cx="1" cy="1123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FC19470E-041D-F214-C802-66DB76B84097}"/>
              </a:ext>
            </a:extLst>
          </p:cNvPr>
          <p:cNvCxnSpPr/>
          <p:nvPr/>
        </p:nvCxnSpPr>
        <p:spPr>
          <a:xfrm flipH="1">
            <a:off x="4858180" y="2923879"/>
            <a:ext cx="1" cy="1123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8503F3B9-35FC-7FF6-ECB6-841B84238AFF}"/>
              </a:ext>
            </a:extLst>
          </p:cNvPr>
          <p:cNvCxnSpPr/>
          <p:nvPr/>
        </p:nvCxnSpPr>
        <p:spPr>
          <a:xfrm flipH="1">
            <a:off x="4844328" y="3325661"/>
            <a:ext cx="1" cy="1123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1" name="Picture 130" descr="A white line on a green background&#10;&#10;AI-generated content may be incorrect.">
            <a:extLst>
              <a:ext uri="{FF2B5EF4-FFF2-40B4-BE49-F238E27FC236}">
                <a16:creationId xmlns:a16="http://schemas.microsoft.com/office/drawing/2014/main" id="{DBD58950-68CF-A879-A2C7-386666E2F6D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28255" y="4018856"/>
            <a:ext cx="360330" cy="360330"/>
          </a:xfrm>
          <a:prstGeom prst="rect">
            <a:avLst/>
          </a:prstGeom>
        </p:spPr>
      </p:pic>
      <p:sp>
        <p:nvSpPr>
          <p:cNvPr id="132" name="TextBox 131">
            <a:extLst>
              <a:ext uri="{FF2B5EF4-FFF2-40B4-BE49-F238E27FC236}">
                <a16:creationId xmlns:a16="http://schemas.microsoft.com/office/drawing/2014/main" id="{AF43F444-43DD-DDE5-EEF7-2D42DF681857}"/>
              </a:ext>
            </a:extLst>
          </p:cNvPr>
          <p:cNvSpPr txBox="1"/>
          <p:nvPr/>
        </p:nvSpPr>
        <p:spPr>
          <a:xfrm>
            <a:off x="5060925" y="3999437"/>
            <a:ext cx="113566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Failed Records</a:t>
            </a:r>
          </a:p>
          <a:p>
            <a:r>
              <a:rPr lang="en-US" sz="1000" dirty="0"/>
              <a:t>S3 Failed Bucket</a:t>
            </a:r>
          </a:p>
          <a:p>
            <a:endParaRPr lang="en-US" dirty="0"/>
          </a:p>
        </p:txBody>
      </p: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05A5BEE2-2EC5-0D54-3CAD-E9F66628A27F}"/>
              </a:ext>
            </a:extLst>
          </p:cNvPr>
          <p:cNvCxnSpPr/>
          <p:nvPr/>
        </p:nvCxnSpPr>
        <p:spPr>
          <a:xfrm flipH="1">
            <a:off x="5370803" y="3782865"/>
            <a:ext cx="1" cy="1123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6" name="Picture 135" descr="A white line on a green background&#10;&#10;AI-generated content may be incorrect.">
            <a:extLst>
              <a:ext uri="{FF2B5EF4-FFF2-40B4-BE49-F238E27FC236}">
                <a16:creationId xmlns:a16="http://schemas.microsoft.com/office/drawing/2014/main" id="{E6BAACE4-7606-CF75-5D1C-7CE3143D612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37843" y="2434793"/>
            <a:ext cx="360330" cy="360330"/>
          </a:xfrm>
          <a:prstGeom prst="rect">
            <a:avLst/>
          </a:prstGeom>
        </p:spPr>
      </p:pic>
      <p:pic>
        <p:nvPicPr>
          <p:cNvPr id="11" name="Picture 10" descr="A white line on a green background&#10;&#10;AI-generated content may be incorrect.">
            <a:extLst>
              <a:ext uri="{FF2B5EF4-FFF2-40B4-BE49-F238E27FC236}">
                <a16:creationId xmlns:a16="http://schemas.microsoft.com/office/drawing/2014/main" id="{675ADEC4-D71B-3EBF-ED31-E8D9DA46E10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29942" y="3285751"/>
            <a:ext cx="360330" cy="360330"/>
          </a:xfrm>
          <a:prstGeom prst="rect">
            <a:avLst/>
          </a:prstGeom>
        </p:spPr>
      </p:pic>
      <p:sp>
        <p:nvSpPr>
          <p:cNvPr id="137" name="TextBox 136">
            <a:extLst>
              <a:ext uri="{FF2B5EF4-FFF2-40B4-BE49-F238E27FC236}">
                <a16:creationId xmlns:a16="http://schemas.microsoft.com/office/drawing/2014/main" id="{4E58A071-C8AD-1693-4A48-252B4E25B7B2}"/>
              </a:ext>
            </a:extLst>
          </p:cNvPr>
          <p:cNvSpPr txBox="1"/>
          <p:nvPr/>
        </p:nvSpPr>
        <p:spPr>
          <a:xfrm>
            <a:off x="6134782" y="3703805"/>
            <a:ext cx="118192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Gold Layer</a:t>
            </a:r>
          </a:p>
          <a:p>
            <a:r>
              <a:rPr lang="en-US" sz="800" dirty="0"/>
              <a:t>(Analytics Ready)</a:t>
            </a:r>
          </a:p>
          <a:p>
            <a:endParaRPr lang="en-US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932F1828-8295-7BC6-B5B6-89DE570CE67A}"/>
              </a:ext>
            </a:extLst>
          </p:cNvPr>
          <p:cNvSpPr txBox="1"/>
          <p:nvPr/>
        </p:nvSpPr>
        <p:spPr>
          <a:xfrm>
            <a:off x="6367601" y="2770318"/>
            <a:ext cx="110006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Silver Layer</a:t>
            </a:r>
          </a:p>
          <a:p>
            <a:r>
              <a:rPr lang="en-US" sz="800" dirty="0"/>
              <a:t>(Validated/Cleaned)</a:t>
            </a:r>
          </a:p>
          <a:p>
            <a:endParaRPr lang="en-US" dirty="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A70A9A67-224B-5F4E-0216-01D53D5B6350}"/>
              </a:ext>
            </a:extLst>
          </p:cNvPr>
          <p:cNvSpPr txBox="1"/>
          <p:nvPr/>
        </p:nvSpPr>
        <p:spPr>
          <a:xfrm>
            <a:off x="6095999" y="1996474"/>
            <a:ext cx="1229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S3 Curated Zone</a:t>
            </a:r>
          </a:p>
          <a:p>
            <a:endParaRPr lang="en-US" dirty="0"/>
          </a:p>
        </p:txBody>
      </p: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9F566B42-C3DA-D858-0DF7-970C4072BDB4}"/>
              </a:ext>
            </a:extLst>
          </p:cNvPr>
          <p:cNvCxnSpPr/>
          <p:nvPr/>
        </p:nvCxnSpPr>
        <p:spPr>
          <a:xfrm>
            <a:off x="6330405" y="2773201"/>
            <a:ext cx="0" cy="5052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A3A52C43-E9FD-218A-FB57-5FBAF8B638B6}"/>
              </a:ext>
            </a:extLst>
          </p:cNvPr>
          <p:cNvCxnSpPr>
            <a:cxnSpLocks/>
          </p:cNvCxnSpPr>
          <p:nvPr/>
        </p:nvCxnSpPr>
        <p:spPr>
          <a:xfrm flipV="1">
            <a:off x="6037557" y="2522999"/>
            <a:ext cx="105127" cy="33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1E3F3940-965A-16A8-0652-51FB08A23131}"/>
              </a:ext>
            </a:extLst>
          </p:cNvPr>
          <p:cNvCxnSpPr>
            <a:cxnSpLocks/>
          </p:cNvCxnSpPr>
          <p:nvPr/>
        </p:nvCxnSpPr>
        <p:spPr>
          <a:xfrm flipV="1">
            <a:off x="6023698" y="3423550"/>
            <a:ext cx="105127" cy="33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D3320AFB-5165-7CA6-343E-3E0044836C4D}"/>
              </a:ext>
            </a:extLst>
          </p:cNvPr>
          <p:cNvCxnSpPr/>
          <p:nvPr/>
        </p:nvCxnSpPr>
        <p:spPr>
          <a:xfrm flipV="1">
            <a:off x="6965865" y="3092645"/>
            <a:ext cx="532533" cy="334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ABD24EDD-15D8-2F32-EBFA-2EFA569F7226}"/>
              </a:ext>
            </a:extLst>
          </p:cNvPr>
          <p:cNvCxnSpPr>
            <a:endCxn id="118" idx="1"/>
          </p:cNvCxnSpPr>
          <p:nvPr/>
        </p:nvCxnSpPr>
        <p:spPr>
          <a:xfrm>
            <a:off x="7094625" y="2603924"/>
            <a:ext cx="389918" cy="3806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40548F25-B720-CEBB-6854-DD3FBA61F6C8}"/>
              </a:ext>
            </a:extLst>
          </p:cNvPr>
          <p:cNvSpPr txBox="1"/>
          <p:nvPr/>
        </p:nvSpPr>
        <p:spPr>
          <a:xfrm>
            <a:off x="7300359" y="3336720"/>
            <a:ext cx="103503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AWS Glue </a:t>
            </a:r>
          </a:p>
          <a:p>
            <a:r>
              <a:rPr lang="en-US" sz="1000" dirty="0"/>
              <a:t>Data Catalog</a:t>
            </a:r>
          </a:p>
          <a:p>
            <a:endParaRPr lang="en-US" sz="1000" dirty="0"/>
          </a:p>
          <a:p>
            <a:r>
              <a:rPr lang="en-US" sz="800" dirty="0"/>
              <a:t>Central Metadata Repository</a:t>
            </a:r>
          </a:p>
          <a:p>
            <a:endParaRPr lang="en-US" dirty="0"/>
          </a:p>
        </p:txBody>
      </p:sp>
      <p:pic>
        <p:nvPicPr>
          <p:cNvPr id="153" name="Picture 152">
            <a:extLst>
              <a:ext uri="{FF2B5EF4-FFF2-40B4-BE49-F238E27FC236}">
                <a16:creationId xmlns:a16="http://schemas.microsoft.com/office/drawing/2014/main" id="{0F03F0FA-1471-75D0-853D-A55D435B2B30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657917" y="1175738"/>
            <a:ext cx="304800" cy="304800"/>
          </a:xfrm>
          <a:prstGeom prst="rect">
            <a:avLst/>
          </a:prstGeom>
        </p:spPr>
      </p:pic>
      <p:sp>
        <p:nvSpPr>
          <p:cNvPr id="155" name="TextBox 154">
            <a:extLst>
              <a:ext uri="{FF2B5EF4-FFF2-40B4-BE49-F238E27FC236}">
                <a16:creationId xmlns:a16="http://schemas.microsoft.com/office/drawing/2014/main" id="{ED183EC5-BEB4-21C6-4EEA-63B45367B55B}"/>
              </a:ext>
            </a:extLst>
          </p:cNvPr>
          <p:cNvSpPr txBox="1"/>
          <p:nvPr/>
        </p:nvSpPr>
        <p:spPr>
          <a:xfrm>
            <a:off x="9179252" y="1536576"/>
            <a:ext cx="10870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Private Subnets </a:t>
            </a:r>
          </a:p>
          <a:p>
            <a:r>
              <a:rPr lang="en-US" sz="1000" dirty="0"/>
              <a:t>(Analytics)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41380AC-F246-2E1C-13F3-5FA6EA921F5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845354" y="1561487"/>
            <a:ext cx="275417" cy="275417"/>
          </a:xfrm>
          <a:prstGeom prst="rect">
            <a:avLst/>
          </a:prstGeom>
        </p:spPr>
      </p:pic>
      <p:pic>
        <p:nvPicPr>
          <p:cNvPr id="157" name="Picture 156">
            <a:extLst>
              <a:ext uri="{FF2B5EF4-FFF2-40B4-BE49-F238E27FC236}">
                <a16:creationId xmlns:a16="http://schemas.microsoft.com/office/drawing/2014/main" id="{72BA0FEE-2124-D316-E460-933B61BE58AB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919880" y="2150534"/>
            <a:ext cx="304800" cy="30480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CD7112D5-D939-2474-71AB-64DEB2CCE02A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933230" y="2856684"/>
            <a:ext cx="502222" cy="502222"/>
          </a:xfrm>
          <a:prstGeom prst="rect">
            <a:avLst/>
          </a:prstGeom>
        </p:spPr>
      </p:pic>
      <p:pic>
        <p:nvPicPr>
          <p:cNvPr id="165" name="Picture 164" descr="A group of colored crosses&#10;&#10;AI-generated content may be incorrect.">
            <a:extLst>
              <a:ext uri="{FF2B5EF4-FFF2-40B4-BE49-F238E27FC236}">
                <a16:creationId xmlns:a16="http://schemas.microsoft.com/office/drawing/2014/main" id="{DD788E27-6947-EB2E-E59C-4E5F779DF658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901281" y="3579681"/>
            <a:ext cx="600677" cy="508001"/>
          </a:xfrm>
          <a:prstGeom prst="rect">
            <a:avLst/>
          </a:prstGeom>
        </p:spPr>
      </p:pic>
      <p:cxnSp>
        <p:nvCxnSpPr>
          <p:cNvPr id="169" name="Elbow Connector 168">
            <a:extLst>
              <a:ext uri="{FF2B5EF4-FFF2-40B4-BE49-F238E27FC236}">
                <a16:creationId xmlns:a16="http://schemas.microsoft.com/office/drawing/2014/main" id="{ED9A27F9-AE18-4B8C-DB2B-CE8B50142E3D}"/>
              </a:ext>
            </a:extLst>
          </p:cNvPr>
          <p:cNvCxnSpPr>
            <a:cxnSpLocks/>
            <a:stCxn id="35" idx="0"/>
          </p:cNvCxnSpPr>
          <p:nvPr/>
        </p:nvCxnSpPr>
        <p:spPr>
          <a:xfrm rot="16200000" flipV="1">
            <a:off x="8911975" y="2584317"/>
            <a:ext cx="394904" cy="14982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79DEFB8A-A963-7898-69A6-1B2CC60CF77D}"/>
              </a:ext>
            </a:extLst>
          </p:cNvPr>
          <p:cNvCxnSpPr/>
          <p:nvPr/>
        </p:nvCxnSpPr>
        <p:spPr>
          <a:xfrm flipH="1">
            <a:off x="9166950" y="3276984"/>
            <a:ext cx="1" cy="3205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B37429BE-C54D-1D57-96D6-5B7CF3AC4A50}"/>
              </a:ext>
            </a:extLst>
          </p:cNvPr>
          <p:cNvCxnSpPr/>
          <p:nvPr/>
        </p:nvCxnSpPr>
        <p:spPr>
          <a:xfrm flipH="1">
            <a:off x="9194657" y="4094406"/>
            <a:ext cx="1" cy="3205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TextBox 173">
            <a:extLst>
              <a:ext uri="{FF2B5EF4-FFF2-40B4-BE49-F238E27FC236}">
                <a16:creationId xmlns:a16="http://schemas.microsoft.com/office/drawing/2014/main" id="{49BCBD4F-59F9-EE2D-83A8-43E1F6530EEF}"/>
              </a:ext>
            </a:extLst>
          </p:cNvPr>
          <p:cNvSpPr txBox="1"/>
          <p:nvPr/>
        </p:nvSpPr>
        <p:spPr>
          <a:xfrm>
            <a:off x="9342826" y="2648223"/>
            <a:ext cx="113566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Interface VPC Endpoint</a:t>
            </a:r>
          </a:p>
          <a:p>
            <a:r>
              <a:rPr lang="en-US" sz="800" dirty="0"/>
              <a:t>(AWS </a:t>
            </a:r>
            <a:r>
              <a:rPr lang="en-US" sz="800" dirty="0" err="1"/>
              <a:t>PrivateLink</a:t>
            </a:r>
            <a:r>
              <a:rPr lang="en-US" sz="800" dirty="0"/>
              <a:t>)</a:t>
            </a:r>
          </a:p>
          <a:p>
            <a:r>
              <a:rPr lang="en-US" sz="800" dirty="0"/>
              <a:t>AWS Glue Job (Validation &amp; ETL)</a:t>
            </a:r>
          </a:p>
          <a:p>
            <a:r>
              <a:rPr lang="en-US" sz="800" dirty="0"/>
              <a:t>Athena Endpoint</a:t>
            </a:r>
          </a:p>
          <a:p>
            <a:r>
              <a:rPr lang="en-US" sz="800" dirty="0"/>
              <a:t>(Private Connectivity)</a:t>
            </a:r>
          </a:p>
          <a:p>
            <a:endParaRPr lang="en-US" sz="800" dirty="0"/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5A583EA6-961F-9F38-347E-E21A55601688}"/>
              </a:ext>
            </a:extLst>
          </p:cNvPr>
          <p:cNvSpPr txBox="1"/>
          <p:nvPr/>
        </p:nvSpPr>
        <p:spPr>
          <a:xfrm>
            <a:off x="8813689" y="4520027"/>
            <a:ext cx="11356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Data Scientists /</a:t>
            </a:r>
          </a:p>
          <a:p>
            <a:r>
              <a:rPr lang="en-US" sz="1000" b="1" dirty="0"/>
              <a:t>Analysts</a:t>
            </a:r>
          </a:p>
          <a:p>
            <a:endParaRPr lang="en-US" sz="1000" b="1" dirty="0"/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363D8CBD-D343-D872-0BC1-39E044DA06B6}"/>
              </a:ext>
            </a:extLst>
          </p:cNvPr>
          <p:cNvSpPr txBox="1"/>
          <p:nvPr/>
        </p:nvSpPr>
        <p:spPr>
          <a:xfrm>
            <a:off x="9450758" y="3576585"/>
            <a:ext cx="11356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Tablåeau Server</a:t>
            </a:r>
          </a:p>
          <a:p>
            <a:r>
              <a:rPr lang="en-US" sz="800" dirty="0"/>
              <a:t> (on AWS)</a:t>
            </a:r>
          </a:p>
          <a:p>
            <a:r>
              <a:rPr lang="en-US" sz="800" dirty="0"/>
              <a:t>Athena Driver (JDBC)</a:t>
            </a:r>
          </a:p>
          <a:p>
            <a:r>
              <a:rPr lang="en-US" sz="800" dirty="0"/>
              <a:t>via </a:t>
            </a:r>
            <a:r>
              <a:rPr lang="en-US" sz="800" dirty="0" err="1"/>
              <a:t>PrivateLink</a:t>
            </a:r>
            <a:endParaRPr lang="en-US" sz="800" dirty="0"/>
          </a:p>
          <a:p>
            <a:endParaRPr lang="en-US" sz="800" dirty="0"/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56ABEF9A-0E15-B762-0165-867190F6D35E}"/>
              </a:ext>
            </a:extLst>
          </p:cNvPr>
          <p:cNvSpPr txBox="1"/>
          <p:nvPr/>
        </p:nvSpPr>
        <p:spPr>
          <a:xfrm>
            <a:off x="9216225" y="2118647"/>
            <a:ext cx="147088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Amazon Athena</a:t>
            </a:r>
          </a:p>
          <a:p>
            <a:r>
              <a:rPr lang="en-US" sz="1000" dirty="0"/>
              <a:t>Use Glue Catalog &amp; Queries S3 Data</a:t>
            </a:r>
          </a:p>
        </p:txBody>
      </p:sp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AEDBF7AA-E7EC-6A6E-56FF-E9D7CDAFB322}"/>
              </a:ext>
            </a:extLst>
          </p:cNvPr>
          <p:cNvCxnSpPr>
            <a:cxnSpLocks/>
          </p:cNvCxnSpPr>
          <p:nvPr/>
        </p:nvCxnSpPr>
        <p:spPr>
          <a:xfrm>
            <a:off x="7918104" y="3026095"/>
            <a:ext cx="900918" cy="251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TextBox 180">
            <a:extLst>
              <a:ext uri="{FF2B5EF4-FFF2-40B4-BE49-F238E27FC236}">
                <a16:creationId xmlns:a16="http://schemas.microsoft.com/office/drawing/2014/main" id="{86E20677-6A13-0159-6A5F-BB7EABBCBCA7}"/>
              </a:ext>
            </a:extLst>
          </p:cNvPr>
          <p:cNvSpPr txBox="1"/>
          <p:nvPr/>
        </p:nvSpPr>
        <p:spPr>
          <a:xfrm>
            <a:off x="8700134" y="1095446"/>
            <a:ext cx="177836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accent5">
                    <a:lumMod val="75000"/>
                  </a:schemeClr>
                </a:solidFill>
              </a:rPr>
              <a:t>Data Exploitation (Analytics)</a:t>
            </a:r>
          </a:p>
          <a:p>
            <a:endParaRPr lang="en-US" dirty="0"/>
          </a:p>
        </p:txBody>
      </p:sp>
      <p:pic>
        <p:nvPicPr>
          <p:cNvPr id="183" name="Picture 182">
            <a:extLst>
              <a:ext uri="{FF2B5EF4-FFF2-40B4-BE49-F238E27FC236}">
                <a16:creationId xmlns:a16="http://schemas.microsoft.com/office/drawing/2014/main" id="{B999F4C4-2040-B5E7-8D94-ADDA953B714B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650200" y="2927093"/>
            <a:ext cx="354384" cy="354384"/>
          </a:xfrm>
          <a:prstGeom prst="rect">
            <a:avLst/>
          </a:prstGeom>
        </p:spPr>
      </p:pic>
      <p:pic>
        <p:nvPicPr>
          <p:cNvPr id="185" name="Picture 184">
            <a:extLst>
              <a:ext uri="{FF2B5EF4-FFF2-40B4-BE49-F238E27FC236}">
                <a16:creationId xmlns:a16="http://schemas.microsoft.com/office/drawing/2014/main" id="{46181073-6B0B-05C5-1574-0CFF6FF5EBAA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642596" y="3340484"/>
            <a:ext cx="376849" cy="376849"/>
          </a:xfrm>
          <a:prstGeom prst="rect">
            <a:avLst/>
          </a:prstGeom>
        </p:spPr>
      </p:pic>
      <p:pic>
        <p:nvPicPr>
          <p:cNvPr id="187" name="Picture 186" descr="A white line drawing of a key and a card&#10;&#10;AI-generated content may be incorrect.">
            <a:extLst>
              <a:ext uri="{FF2B5EF4-FFF2-40B4-BE49-F238E27FC236}">
                <a16:creationId xmlns:a16="http://schemas.microsoft.com/office/drawing/2014/main" id="{0AC1F1A0-3080-88E0-D099-27836874C410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650275" y="2444664"/>
            <a:ext cx="376850" cy="376850"/>
          </a:xfrm>
          <a:prstGeom prst="rect">
            <a:avLst/>
          </a:prstGeom>
        </p:spPr>
      </p:pic>
      <p:pic>
        <p:nvPicPr>
          <p:cNvPr id="189" name="Picture 188" descr="A red square with a white line drawing of a padlock&#10;&#10;AI-generated content may be incorrect.">
            <a:extLst>
              <a:ext uri="{FF2B5EF4-FFF2-40B4-BE49-F238E27FC236}">
                <a16:creationId xmlns:a16="http://schemas.microsoft.com/office/drawing/2014/main" id="{E0892D57-E187-3B57-D26E-A85CD922597A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640058" y="2005677"/>
            <a:ext cx="393591" cy="393591"/>
          </a:xfrm>
          <a:prstGeom prst="rect">
            <a:avLst/>
          </a:prstGeom>
        </p:spPr>
      </p:pic>
      <p:sp>
        <p:nvSpPr>
          <p:cNvPr id="190" name="TextBox 189">
            <a:extLst>
              <a:ext uri="{FF2B5EF4-FFF2-40B4-BE49-F238E27FC236}">
                <a16:creationId xmlns:a16="http://schemas.microsoft.com/office/drawing/2014/main" id="{78FEDFE7-8A4B-8016-22C3-BBF2933C9C32}"/>
              </a:ext>
            </a:extLst>
          </p:cNvPr>
          <p:cNvSpPr txBox="1"/>
          <p:nvPr/>
        </p:nvSpPr>
        <p:spPr>
          <a:xfrm>
            <a:off x="10657563" y="715141"/>
            <a:ext cx="1382399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/>
              <a:t>Network &amp; Security</a:t>
            </a:r>
          </a:p>
          <a:p>
            <a:endParaRPr lang="en-US" dirty="0"/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BC2652F1-B774-6CBB-35D8-2A78599C3E03}"/>
              </a:ext>
            </a:extLst>
          </p:cNvPr>
          <p:cNvSpPr txBox="1"/>
          <p:nvPr/>
        </p:nvSpPr>
        <p:spPr>
          <a:xfrm>
            <a:off x="10984411" y="910641"/>
            <a:ext cx="11564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VPC Endpoints</a:t>
            </a:r>
          </a:p>
          <a:p>
            <a:r>
              <a:rPr lang="en-US" sz="800" dirty="0"/>
              <a:t>﻿﻿S3 (Gateway)</a:t>
            </a:r>
          </a:p>
          <a:p>
            <a:r>
              <a:rPr lang="en-US" sz="800" dirty="0"/>
              <a:t>﻿﻿Athena (Interface)</a:t>
            </a:r>
          </a:p>
          <a:p>
            <a:r>
              <a:rPr lang="en-US" sz="800" dirty="0"/>
              <a:t>﻿﻿Glue (Interface)</a:t>
            </a:r>
          </a:p>
          <a:p>
            <a:r>
              <a:rPr lang="en-US" sz="800" dirty="0"/>
              <a:t>﻿﻿STS, KMS, Secrets</a:t>
            </a:r>
            <a:br>
              <a:rPr lang="en-US" sz="800" dirty="0"/>
            </a:br>
            <a:r>
              <a:rPr lang="en-US" sz="800" dirty="0"/>
              <a:t>Manager, CloudWatch (interface)</a:t>
            </a:r>
          </a:p>
          <a:p>
            <a:endParaRPr lang="en-US" sz="800" dirty="0"/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244502DC-36CE-89FA-B456-B68C8883C17D}"/>
              </a:ext>
            </a:extLst>
          </p:cNvPr>
          <p:cNvSpPr txBox="1"/>
          <p:nvPr/>
        </p:nvSpPr>
        <p:spPr>
          <a:xfrm>
            <a:off x="10995045" y="2349221"/>
            <a:ext cx="11356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AWS KMS</a:t>
            </a:r>
          </a:p>
          <a:p>
            <a:r>
              <a:rPr lang="en-US" sz="800" dirty="0"/>
              <a:t>Encryption for</a:t>
            </a:r>
          </a:p>
          <a:p>
            <a:r>
              <a:rPr lang="en-US" sz="800" dirty="0"/>
              <a:t>S3, Athena Results,</a:t>
            </a:r>
          </a:p>
          <a:p>
            <a:r>
              <a:rPr lang="en-US" sz="800" dirty="0"/>
              <a:t>Secrets</a:t>
            </a:r>
          </a:p>
          <a:p>
            <a:endParaRPr lang="en-US" sz="800" dirty="0"/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8D83C750-4BBD-DC5B-6495-EAA9D141ED73}"/>
              </a:ext>
            </a:extLst>
          </p:cNvPr>
          <p:cNvSpPr txBox="1"/>
          <p:nvPr/>
        </p:nvSpPr>
        <p:spPr>
          <a:xfrm>
            <a:off x="10965131" y="2895098"/>
            <a:ext cx="11356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Secrets Manager</a:t>
            </a:r>
          </a:p>
          <a:p>
            <a:r>
              <a:rPr lang="en-US" sz="800" dirty="0"/>
              <a:t>Store API tokens /</a:t>
            </a:r>
          </a:p>
          <a:p>
            <a:r>
              <a:rPr lang="en-US" sz="800" dirty="0"/>
              <a:t>Credentials</a:t>
            </a:r>
          </a:p>
          <a:p>
            <a:endParaRPr lang="en-US" sz="800" dirty="0"/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8403D8A1-786C-8F22-B34E-0FC7753386B7}"/>
              </a:ext>
            </a:extLst>
          </p:cNvPr>
          <p:cNvSpPr txBox="1"/>
          <p:nvPr/>
        </p:nvSpPr>
        <p:spPr>
          <a:xfrm>
            <a:off x="10965131" y="3266711"/>
            <a:ext cx="11356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Security Groups</a:t>
            </a:r>
          </a:p>
          <a:p>
            <a:r>
              <a:rPr lang="en-US" sz="800" b="1" dirty="0"/>
              <a:t>&amp; NACLS</a:t>
            </a:r>
          </a:p>
          <a:p>
            <a:r>
              <a:rPr lang="en-US" sz="800" dirty="0"/>
              <a:t>Network Access</a:t>
            </a:r>
          </a:p>
          <a:p>
            <a:r>
              <a:rPr lang="en-US" sz="800" dirty="0"/>
              <a:t>Control</a:t>
            </a:r>
          </a:p>
          <a:p>
            <a:endParaRPr lang="en-US" sz="800" dirty="0"/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AE377A56-8674-5D69-E1AD-13FB7EB82989}"/>
              </a:ext>
            </a:extLst>
          </p:cNvPr>
          <p:cNvSpPr txBox="1"/>
          <p:nvPr/>
        </p:nvSpPr>
        <p:spPr>
          <a:xfrm>
            <a:off x="10997326" y="1951144"/>
            <a:ext cx="9565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IAM</a:t>
            </a:r>
          </a:p>
          <a:p>
            <a:r>
              <a:rPr lang="en-US" sz="800" dirty="0"/>
              <a:t>Least Privilege</a:t>
            </a:r>
          </a:p>
          <a:p>
            <a:r>
              <a:rPr lang="en-US" sz="800" dirty="0"/>
              <a:t>Access</a:t>
            </a:r>
          </a:p>
          <a:p>
            <a:endParaRPr lang="en-US" sz="800" dirty="0"/>
          </a:p>
        </p:txBody>
      </p:sp>
      <p:pic>
        <p:nvPicPr>
          <p:cNvPr id="203" name="Picture 202">
            <a:extLst>
              <a:ext uri="{FF2B5EF4-FFF2-40B4-BE49-F238E27FC236}">
                <a16:creationId xmlns:a16="http://schemas.microsoft.com/office/drawing/2014/main" id="{9E3BD2DE-9AEE-DEE1-8350-3874F6441B89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340991" y="1039174"/>
            <a:ext cx="380951" cy="380951"/>
          </a:xfrm>
          <a:prstGeom prst="rect">
            <a:avLst/>
          </a:prstGeom>
        </p:spPr>
      </p:pic>
      <p:sp>
        <p:nvSpPr>
          <p:cNvPr id="204" name="TextBox 203">
            <a:extLst>
              <a:ext uri="{FF2B5EF4-FFF2-40B4-BE49-F238E27FC236}">
                <a16:creationId xmlns:a16="http://schemas.microsoft.com/office/drawing/2014/main" id="{DDA84ADC-2A69-B4B0-4D29-3E35799ACEB3}"/>
              </a:ext>
            </a:extLst>
          </p:cNvPr>
          <p:cNvSpPr txBox="1"/>
          <p:nvPr/>
        </p:nvSpPr>
        <p:spPr>
          <a:xfrm>
            <a:off x="1752879" y="1066984"/>
            <a:ext cx="44976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HDB Data Platform VPC (10.0.0.0/16)</a:t>
            </a:r>
          </a:p>
          <a:p>
            <a:endParaRPr lang="en-US" dirty="0"/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332D4D9E-55ED-8B5D-B344-1000F48786DD}"/>
              </a:ext>
            </a:extLst>
          </p:cNvPr>
          <p:cNvSpPr txBox="1"/>
          <p:nvPr/>
        </p:nvSpPr>
        <p:spPr>
          <a:xfrm>
            <a:off x="1704055" y="649559"/>
            <a:ext cx="300347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AWS GCC Platform</a:t>
            </a:r>
          </a:p>
          <a:p>
            <a:endParaRPr lang="en-US" sz="1000" dirty="0"/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10FF7AA5-AE81-1A57-F384-5D2EC5130801}"/>
              </a:ext>
            </a:extLst>
          </p:cNvPr>
          <p:cNvSpPr txBox="1"/>
          <p:nvPr/>
        </p:nvSpPr>
        <p:spPr>
          <a:xfrm>
            <a:off x="1149962" y="1697"/>
            <a:ext cx="12126784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HDB Data Platform - Data Ingestion &amp; Data Exploitation Architecture on AWS</a:t>
            </a:r>
          </a:p>
          <a:p>
            <a:r>
              <a:rPr lang="en-US" sz="1400" dirty="0"/>
              <a:t>Secure • Scalable • Performant • Operational Excellence</a:t>
            </a:r>
          </a:p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D745C5-BB69-E06E-6557-D296F3BFB145}"/>
              </a:ext>
            </a:extLst>
          </p:cNvPr>
          <p:cNvSpPr/>
          <p:nvPr/>
        </p:nvSpPr>
        <p:spPr>
          <a:xfrm>
            <a:off x="10877424" y="4583570"/>
            <a:ext cx="234176" cy="1803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C06BC3-AA8E-DD99-CF1A-6461AA6C4E67}"/>
              </a:ext>
            </a:extLst>
          </p:cNvPr>
          <p:cNvSpPr/>
          <p:nvPr/>
        </p:nvSpPr>
        <p:spPr>
          <a:xfrm>
            <a:off x="10842937" y="5062249"/>
            <a:ext cx="234176" cy="18037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897905-4ADB-B390-BA27-223C962FA9F6}"/>
              </a:ext>
            </a:extLst>
          </p:cNvPr>
          <p:cNvSpPr/>
          <p:nvPr/>
        </p:nvSpPr>
        <p:spPr>
          <a:xfrm>
            <a:off x="10860542" y="5390228"/>
            <a:ext cx="234176" cy="18037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F135D1-F187-885E-69A5-F9FB982258AF}"/>
              </a:ext>
            </a:extLst>
          </p:cNvPr>
          <p:cNvSpPr/>
          <p:nvPr/>
        </p:nvSpPr>
        <p:spPr>
          <a:xfrm>
            <a:off x="10840265" y="5873283"/>
            <a:ext cx="234176" cy="18037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959F81-A45A-97EF-506D-841100505277}"/>
              </a:ext>
            </a:extLst>
          </p:cNvPr>
          <p:cNvSpPr/>
          <p:nvPr/>
        </p:nvSpPr>
        <p:spPr>
          <a:xfrm>
            <a:off x="10879083" y="6358884"/>
            <a:ext cx="234176" cy="18037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2342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459</TotalTime>
  <Words>526</Words>
  <Application>Microsoft Macintosh PowerPoint</Application>
  <PresentationFormat>Widescreen</PresentationFormat>
  <Paragraphs>153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 K</dc:creator>
  <cp:lastModifiedBy>Ram K</cp:lastModifiedBy>
  <cp:revision>13</cp:revision>
  <dcterms:created xsi:type="dcterms:W3CDTF">2026-07-17T08:47:36Z</dcterms:created>
  <dcterms:modified xsi:type="dcterms:W3CDTF">2026-07-19T12:45:00Z</dcterms:modified>
</cp:coreProperties>
</file>